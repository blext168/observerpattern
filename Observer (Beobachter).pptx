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7" r:id="rId1"/>
  </p:sldMasterIdLst>
  <p:notesMasterIdLst>
    <p:notesMasterId r:id="rId11"/>
  </p:notesMasterIdLst>
  <p:sldIdLst>
    <p:sldId id="256" r:id="rId2"/>
    <p:sldId id="257" r:id="rId3"/>
    <p:sldId id="259" r:id="rId4"/>
    <p:sldId id="258" r:id="rId5"/>
    <p:sldId id="261" r:id="rId6"/>
    <p:sldId id="262" r:id="rId7"/>
    <p:sldId id="265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2026" autoAdjust="0"/>
  </p:normalViewPr>
  <p:slideViewPr>
    <p:cSldViewPr snapToGrid="0">
      <p:cViewPr varScale="1">
        <p:scale>
          <a:sx n="81" d="100"/>
          <a:sy n="81" d="100"/>
        </p:scale>
        <p:origin x="175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5E5C4F-5CD3-4813-8A58-17042F1AE97C}" type="datetimeFigureOut">
              <a:rPr lang="de-DE" smtClean="0"/>
              <a:t>03.12.2025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79FC98-DDC4-40A5-90CB-37FFA02134F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98872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9FC98-DDC4-40A5-90CB-37FFA02134FB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59533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Problem als Frage verpacken in der Präsentation</a:t>
            </a:r>
          </a:p>
          <a:p>
            <a:endParaRPr lang="de-DE" dirty="0"/>
          </a:p>
          <a:p>
            <a:r>
              <a:rPr lang="de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Problemstellung</a:t>
            </a:r>
          </a:p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Mehrere Objekte (Observer) interessieren sich für Änderungen im Zustand eines anderen Objekts (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Subject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</a:p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 Pattern müsste das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Subject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de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hart codiert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wissen, welche Observer es benachrichtigen muss → enge Kopplung.</a:t>
            </a:r>
          </a:p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macht die Architektur </a:t>
            </a:r>
            <a:r>
              <a:rPr lang="de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unflexibel und schwer erweiterbar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de-DE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Beispiel: Eine Wetterstation misst Temperaturen, verschiedene Displays und Logger wollen informiert werden, wenn sich die Temperatur ändert.</a:t>
            </a:r>
          </a:p>
          <a:p>
            <a:br>
              <a:rPr lang="de-DE" dirty="0"/>
            </a:b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9FC98-DDC4-40A5-90CB-37FFA02134FB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49259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Die Grundidee des Musters, das mehrere Objekte informiert werden, sobald sich der Zustand eines bestimmten </a:t>
            </a:r>
            <a:r>
              <a:rPr lang="de-DE" dirty="0"/>
              <a:t>Subjekts</a:t>
            </a:r>
            <a:r>
              <a:rPr lang="de-DE" sz="1200" dirty="0"/>
              <a:t> sich ändert.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Das </a:t>
            </a:r>
            <a:r>
              <a:rPr lang="de-DE" dirty="0"/>
              <a:t>Subjekt</a:t>
            </a:r>
            <a:r>
              <a:rPr lang="de-DE" sz="1200" dirty="0"/>
              <a:t> ist Objekt, welches wir beobachten.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Dabei gibt es ein </a:t>
            </a:r>
            <a:r>
              <a:rPr lang="de-DE" dirty="0"/>
              <a:t>Subjekt</a:t>
            </a:r>
            <a:r>
              <a:rPr lang="de-DE" sz="1200" dirty="0"/>
              <a:t>, welches eine Liste von </a:t>
            </a:r>
            <a:r>
              <a:rPr lang="de-DE" sz="1200" dirty="0" err="1"/>
              <a:t>Observern</a:t>
            </a:r>
            <a:r>
              <a:rPr lang="de-DE" sz="1200" dirty="0"/>
              <a:t> verwaltet. Observer-Objekte können ein </a:t>
            </a:r>
            <a:r>
              <a:rPr lang="de-DE" dirty="0"/>
              <a:t>Subjekts</a:t>
            </a:r>
            <a:r>
              <a:rPr lang="de-DE" sz="1200" dirty="0"/>
              <a:t> abonnieren.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Bei Änderung der Daten im </a:t>
            </a:r>
            <a:r>
              <a:rPr lang="de-DE" dirty="0"/>
              <a:t>Subjekts</a:t>
            </a:r>
            <a:r>
              <a:rPr lang="de-DE" sz="1200" dirty="0"/>
              <a:t> werden alle zugehörigen Observer informiert und diese können dann ihre Daten aktualisieren.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9FC98-DDC4-40A5-90CB-37FFA02134FB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69716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Das </a:t>
            </a:r>
            <a:r>
              <a:rPr lang="de-DE" b="1" dirty="0" err="1"/>
              <a:t>Subject</a:t>
            </a:r>
            <a:r>
              <a:rPr lang="de-DE" dirty="0"/>
              <a:t> verwaltet eine Liste von </a:t>
            </a:r>
            <a:r>
              <a:rPr lang="de-DE" dirty="0" err="1"/>
              <a:t>Observern</a:t>
            </a:r>
            <a:r>
              <a:rPr lang="de-DE" dirty="0"/>
              <a:t>.</a:t>
            </a:r>
          </a:p>
          <a:p>
            <a:r>
              <a:rPr lang="de-DE" dirty="0"/>
              <a:t>Observer registrieren oder </a:t>
            </a:r>
            <a:r>
              <a:rPr lang="de-DE" dirty="0" err="1"/>
              <a:t>deregistrieren</a:t>
            </a:r>
            <a:r>
              <a:rPr lang="de-DE" dirty="0"/>
              <a:t> sich beim </a:t>
            </a:r>
            <a:r>
              <a:rPr lang="de-DE" dirty="0" err="1"/>
              <a:t>Subject</a:t>
            </a:r>
            <a:r>
              <a:rPr lang="de-DE" dirty="0"/>
              <a:t>.</a:t>
            </a:r>
          </a:p>
          <a:p>
            <a:r>
              <a:rPr lang="de-DE" dirty="0"/>
              <a:t>Bei einer Zustandsänderung ruft das </a:t>
            </a:r>
            <a:r>
              <a:rPr lang="de-DE" dirty="0" err="1"/>
              <a:t>Subject</a:t>
            </a:r>
            <a:r>
              <a:rPr lang="de-DE" dirty="0"/>
              <a:t> die </a:t>
            </a:r>
            <a:r>
              <a:rPr lang="de-DE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Update()</a:t>
            </a:r>
            <a:r>
              <a:rPr lang="de-DE" dirty="0"/>
              <a:t>-Methode aller registrierten Observer auf.</a:t>
            </a:r>
          </a:p>
          <a:p>
            <a:r>
              <a:rPr lang="de-DE" dirty="0"/>
              <a:t>Observer reagieren individuell auf die Benachrichtigung.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9FC98-DDC4-40A5-90CB-37FFA02134FB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82106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Vorteile</a:t>
            </a:r>
          </a:p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de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Lose Kopplung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Subject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kennt nur das Observer-Interface, nicht die konkrete Implementierung.</a:t>
            </a:r>
          </a:p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de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Flexibel: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Beliebig viele Observer können sich an- und abmelden.</a:t>
            </a:r>
          </a:p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de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Wiederverwendbar: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Observer und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Subjects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sind unabhängig voneinander nutzbar.</a:t>
            </a:r>
          </a:p>
          <a:p>
            <a:endParaRPr lang="de-DE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Nachteile</a:t>
            </a:r>
          </a:p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Kann zu </a:t>
            </a:r>
            <a:r>
              <a:rPr lang="de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vielen Benachrichtigungen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führen (Performance-Thema).</a:t>
            </a:r>
          </a:p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Die Reihenfolge der Benachrichtigung ist nicht garantiert.</a:t>
            </a:r>
          </a:p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Gefahr von </a:t>
            </a:r>
            <a:r>
              <a:rPr lang="de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Speicherlecks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wenn Observer nicht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deregistriert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werden.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9FC98-DDC4-40A5-90CB-37FFA02134FB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71526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D6613A-6B38-4C56-B099-9AE4A28A91D3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3812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72EFA8-AEE5-4336-B37C-EC476F51836D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4625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28E6E-630E-49B8-98D7-C1A7C57937EA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8270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D6BA10-FD54-46A1-A585-09A27031A5F4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6868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2ABEFC-03C0-4A1E-BC38-4EBD49A068F9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840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6C7EE6-C2EE-4C6A-AAF0-9CA0976525EF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624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FD859-A00E-42C3-84DD-2C83B1636291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741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41A387-8BC6-46BF-A007-E324CD110F84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643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312A4E92-5864-45A4-BFBF-F9F517D733AB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6586042B-6341-4E38-A80C-926D3BB8AA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971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C6810-2FC2-46F6-ADDA-52C57AF8CA09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0624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40554-E98E-4310-A59E-F1A08FC91858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9766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9BECCA-FABB-4E8C-9CDE-566ACDE29DC6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8544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D987B6-5AE4-45A8-8A90-95BC17DADC80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0571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 für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F0FE0C-1F13-41DE-8677-EBC01ABF681F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2290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hr oder Fal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F1877-BECA-4EAC-90F2-7E9F5ACE1766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1784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2655E-22C5-4299-9510-794C0990FD4D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602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E45E-BE2F-44E1-888A-96E3054EEF84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3784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7A096B2B-C2DA-4FA7-A181-90AB72A92B04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6586042B-6341-4E38-A80C-926D3BB8AA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37808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78" r:id="rId1"/>
    <p:sldLayoutId id="2147483779" r:id="rId2"/>
    <p:sldLayoutId id="2147483780" r:id="rId3"/>
    <p:sldLayoutId id="2147483781" r:id="rId4"/>
    <p:sldLayoutId id="2147483782" r:id="rId5"/>
    <p:sldLayoutId id="2147483783" r:id="rId6"/>
    <p:sldLayoutId id="2147483784" r:id="rId7"/>
    <p:sldLayoutId id="2147483785" r:id="rId8"/>
    <p:sldLayoutId id="2147483786" r:id="rId9"/>
    <p:sldLayoutId id="2147483787" r:id="rId10"/>
    <p:sldLayoutId id="2147483788" r:id="rId11"/>
    <p:sldLayoutId id="2147483789" r:id="rId12"/>
    <p:sldLayoutId id="2147483790" r:id="rId13"/>
    <p:sldLayoutId id="2147483791" r:id="rId14"/>
    <p:sldLayoutId id="2147483792" r:id="rId15"/>
    <p:sldLayoutId id="2147483793" r:id="rId16"/>
    <p:sldLayoutId id="2147483794" r:id="rId17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lext168/ObserverPattern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EADE14-BAD1-E14F-508B-168452C53E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Observer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4542BF6-24A2-0291-DF50-FF35E5EEE2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Beobachter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3FB4EAB-7431-3081-EFE9-7BE7D03B5E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4F7C6E-8B39-46CC-8194-062257D1545A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4711C22-7038-E92A-F8D3-D1E614AAD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Von: Jasper </a:t>
            </a:r>
            <a:r>
              <a:rPr lang="de-DE" dirty="0" err="1"/>
              <a:t>Högemann</a:t>
            </a:r>
            <a:r>
              <a:rPr lang="de-DE" dirty="0"/>
              <a:t>, Danilo Schiefer, Mike Schröer</a:t>
            </a:r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4914B6F-2108-9AEE-75D0-D0A63F26C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9159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E206B46-D64B-5483-5BAD-B1CA83EC19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3600" b="1" dirty="0" err="1"/>
              <a:t>inhalt</a:t>
            </a:r>
            <a:endParaRPr lang="de-DE" sz="3600" b="1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C5865D2-ACC7-D283-F590-F0EA4ECF3F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312127"/>
            <a:ext cx="9905998" cy="3479074"/>
          </a:xfrm>
        </p:spPr>
        <p:txBody>
          <a:bodyPr>
            <a:normAutofit/>
          </a:bodyPr>
          <a:lstStyle/>
          <a:p>
            <a:r>
              <a:rPr lang="de-DE" sz="2400" dirty="0"/>
              <a:t>Problem</a:t>
            </a:r>
          </a:p>
          <a:p>
            <a:r>
              <a:rPr lang="de-DE" sz="2400" dirty="0"/>
              <a:t>Funktionsweise / Definition</a:t>
            </a:r>
          </a:p>
          <a:p>
            <a:r>
              <a:rPr lang="de-DE" sz="2400" dirty="0"/>
              <a:t>Struktur &amp; Code</a:t>
            </a:r>
          </a:p>
          <a:p>
            <a:r>
              <a:rPr lang="de-DE" sz="2400" dirty="0"/>
              <a:t>Vor- und Nachteile</a:t>
            </a:r>
          </a:p>
          <a:p>
            <a:r>
              <a:rPr lang="de-DE" sz="2400" dirty="0"/>
              <a:t>Anwendungsfälle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171C292-0E0D-8D0B-9759-A0D57D3B66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DD45-B8B2-4660-A473-8A6C5B1E0F19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14AE173-F3DE-916D-7C32-AB2F7A73C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FB212D8-846C-0B60-EEFC-90414EC41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90055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9F7141-2273-4A8C-71B8-A14B3FBC6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Problem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6257045-B318-97DE-9497-A88A0B14A2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188221"/>
            <a:ext cx="9905998" cy="2481558"/>
          </a:xfrm>
        </p:spPr>
        <p:txBody>
          <a:bodyPr>
            <a:normAutofit/>
          </a:bodyPr>
          <a:lstStyle/>
          <a:p>
            <a:r>
              <a:rPr lang="de-DE" sz="2400" dirty="0"/>
              <a:t>Interesse am Zustand</a:t>
            </a:r>
          </a:p>
          <a:p>
            <a:r>
              <a:rPr lang="de-DE" sz="2400" dirty="0"/>
              <a:t>Hart codiert</a:t>
            </a:r>
          </a:p>
          <a:p>
            <a:r>
              <a:rPr lang="de-DE" sz="2400" dirty="0"/>
              <a:t>Skalierbarkeit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09A7575-A811-16AC-593D-212FD1071C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1904B6-C57F-4F8A-9151-4C73D17B1557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7D3E689-822D-51D9-4993-388A5738B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0BADD6F-F895-5A3D-E848-7D5A778A8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3</a:t>
            </a:fld>
            <a:endParaRPr lang="en-US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6526CDC-4F0D-F03F-D07C-44617ACA56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7502" y="862781"/>
            <a:ext cx="5427526" cy="477997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864932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E1453B-2F50-687E-4DC9-DCCDE200B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Funktionsweise / Definition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192E3E3-9C89-D3D0-BB2D-F7E6665728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514600"/>
            <a:ext cx="9905998" cy="2617098"/>
          </a:xfrm>
        </p:spPr>
        <p:txBody>
          <a:bodyPr>
            <a:normAutofit/>
          </a:bodyPr>
          <a:lstStyle/>
          <a:p>
            <a:r>
              <a:rPr lang="de-DE" sz="2400" dirty="0"/>
              <a:t>Ein </a:t>
            </a:r>
            <a:r>
              <a:rPr lang="de-DE" sz="2400" dirty="0" err="1"/>
              <a:t>subjekt</a:t>
            </a:r>
            <a:r>
              <a:rPr lang="de-DE" sz="2400" dirty="0"/>
              <a:t> mehrere </a:t>
            </a:r>
            <a:r>
              <a:rPr lang="de-DE" sz="2400" dirty="0" err="1"/>
              <a:t>objekte</a:t>
            </a:r>
            <a:endParaRPr lang="de-DE" sz="2400" dirty="0"/>
          </a:p>
          <a:p>
            <a:r>
              <a:rPr lang="de-DE" sz="2400" dirty="0"/>
              <a:t>Objekt kann </a:t>
            </a:r>
            <a:r>
              <a:rPr lang="de-DE" sz="2400" dirty="0" err="1"/>
              <a:t>subjekt</a:t>
            </a:r>
            <a:r>
              <a:rPr lang="de-DE" sz="2400" dirty="0"/>
              <a:t> abonnieren </a:t>
            </a:r>
          </a:p>
          <a:p>
            <a:r>
              <a:rPr lang="de-DE" sz="2400" dirty="0"/>
              <a:t>Subjekt wird beobachtet</a:t>
            </a:r>
          </a:p>
          <a:p>
            <a:r>
              <a:rPr lang="de-DE" sz="2400" dirty="0"/>
              <a:t>Mehrere </a:t>
            </a:r>
            <a:r>
              <a:rPr lang="de-DE" sz="2400" dirty="0" err="1"/>
              <a:t>objekte</a:t>
            </a:r>
            <a:r>
              <a:rPr lang="de-DE" sz="2400" dirty="0"/>
              <a:t> werden informiert bei </a:t>
            </a:r>
            <a:r>
              <a:rPr lang="de-DE" sz="2400" dirty="0" err="1"/>
              <a:t>änderung</a:t>
            </a:r>
            <a:endParaRPr lang="de-DE" sz="2400" dirty="0"/>
          </a:p>
          <a:p>
            <a:endParaRPr lang="de-DE" sz="2400" dirty="0"/>
          </a:p>
          <a:p>
            <a:endParaRPr lang="de-DE" sz="240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EB5A58A-8AC4-D6EB-20B7-B8C827853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132A9-5DED-49E1-9379-27AB16C74881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117D90-C246-D579-7CA8-4305C3668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4BAA2B6-D065-DF47-4865-64B299334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5384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30E6598D-2437-923B-86AB-A152DC5151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050" y="248647"/>
            <a:ext cx="10345570" cy="5324926"/>
          </a:xfr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C46A8D2-8D3B-60EF-BE9E-29DA4EC03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E8B857-05F6-421F-993F-A11E58C46304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603543D-0EEB-293F-DCE8-35BC3168AE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859CEE8-D1E4-1E43-21BF-21B6D792D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7927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F045D88-2A10-296B-42FE-22446093F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Vor- und Nachteile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904ED98-AF44-9577-9E12-A3FB6A66432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400" b="1" dirty="0"/>
              <a:t>Vorteile:</a:t>
            </a:r>
          </a:p>
          <a:p>
            <a:r>
              <a:rPr lang="de-DE" sz="2400" dirty="0"/>
              <a:t>Lose Kopplung</a:t>
            </a:r>
          </a:p>
          <a:p>
            <a:r>
              <a:rPr lang="de-DE" sz="2400" dirty="0"/>
              <a:t>Flexibel</a:t>
            </a:r>
          </a:p>
          <a:p>
            <a:r>
              <a:rPr lang="de-DE" sz="2400" dirty="0"/>
              <a:t>Wiederverwendbar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321BC2A-B5CA-C4E9-5A9C-66893853732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400" b="1" dirty="0"/>
              <a:t>Nachteile:</a:t>
            </a:r>
          </a:p>
          <a:p>
            <a:r>
              <a:rPr lang="de-DE" sz="2400" dirty="0"/>
              <a:t>Performance</a:t>
            </a:r>
          </a:p>
          <a:p>
            <a:r>
              <a:rPr lang="de-DE" sz="2400" dirty="0"/>
              <a:t>Keine Garantie</a:t>
            </a:r>
          </a:p>
          <a:p>
            <a:r>
              <a:rPr lang="de-DE" sz="2400" dirty="0"/>
              <a:t>Speicherlecks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65E7877-FF59-79EA-6965-1FE863F06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EEFF9C-AD3B-406F-BFE1-938C1C030B3F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71A5D82-E4BB-94E7-07AD-51E10FC1A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23DC797-0E13-12A4-55AF-FEADD647A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6156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16105D-3E9F-6B1C-A987-AF3C959C5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Anwendungsfälle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B977AC-A570-3D10-D607-E52B07E2A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181476"/>
            <a:ext cx="9905998" cy="3124201"/>
          </a:xfrm>
        </p:spPr>
        <p:txBody>
          <a:bodyPr/>
          <a:lstStyle/>
          <a:p>
            <a:r>
              <a:rPr lang="de-DE" dirty="0"/>
              <a:t>GUI-Frameworks: Button-Klick → mehrere </a:t>
            </a:r>
            <a:r>
              <a:rPr lang="de-DE" dirty="0" err="1"/>
              <a:t>Listener</a:t>
            </a:r>
            <a:r>
              <a:rPr lang="de-DE" dirty="0"/>
              <a:t>.</a:t>
            </a:r>
          </a:p>
          <a:p>
            <a:r>
              <a:rPr lang="de-DE" dirty="0"/>
              <a:t>Wetterstation (wie im Beispiel).</a:t>
            </a:r>
          </a:p>
          <a:p>
            <a:r>
              <a:rPr lang="de-DE" dirty="0"/>
              <a:t>Event-Systeme (z. B. </a:t>
            </a:r>
            <a:r>
              <a:rPr lang="de-DE" dirty="0" err="1"/>
              <a:t>Logging</a:t>
            </a:r>
            <a:r>
              <a:rPr lang="de-DE" dirty="0"/>
              <a:t>, Monitoring).</a:t>
            </a:r>
          </a:p>
          <a:p>
            <a:r>
              <a:rPr lang="de-DE" dirty="0"/>
              <a:t>Datenmodelle, die Views automatisch aktualisieren sollen (MVC, MVVM).</a:t>
            </a:r>
          </a:p>
          <a:p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5802D25-5574-1BA4-78C7-225DBBF22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87A8-D875-4238-ABFD-D1A2E43E94C7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5718AE5-0807-5A16-F74E-81FDCA429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A57EF30-FED3-B030-0D8A-8AC9F902C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342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2F16A1-6895-C38C-44FC-4ADB328C1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b="1" dirty="0"/>
              <a:t>Merksatz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761E9EE-4312-3123-EC6E-467A3392F6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de-DE" sz="2400" dirty="0">
                <a:effectLst/>
              </a:rPr>
              <a:t>Das Observer Pattern ist wie ein </a:t>
            </a:r>
            <a:r>
              <a:rPr lang="de-DE" sz="2400" b="1" dirty="0">
                <a:effectLst/>
              </a:rPr>
              <a:t>Newsletter</a:t>
            </a:r>
            <a:r>
              <a:rPr lang="de-DE" sz="2400" dirty="0">
                <a:effectLst/>
              </a:rPr>
              <a:t>:</a:t>
            </a:r>
          </a:p>
          <a:p>
            <a:pPr marL="0" indent="0" algn="ctr">
              <a:buNone/>
            </a:pPr>
            <a:r>
              <a:rPr lang="de-DE" sz="2400" dirty="0">
                <a:effectLst/>
              </a:rPr>
              <a:t>Sobald neue Informationen erscheinen, werden alle </a:t>
            </a:r>
            <a:r>
              <a:rPr lang="de-DE" sz="2400" b="1" dirty="0">
                <a:effectLst/>
              </a:rPr>
              <a:t>Abonnenten (Observer)</a:t>
            </a:r>
            <a:r>
              <a:rPr lang="de-DE" sz="2400" dirty="0">
                <a:effectLst/>
              </a:rPr>
              <a:t> automatisch benachrichtigt.</a:t>
            </a:r>
          </a:p>
          <a:p>
            <a:pPr marL="0" indent="0" algn="ctr">
              <a:buNone/>
            </a:pPr>
            <a:endParaRPr lang="de-DE" sz="240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4AA961A-239D-82E7-4B51-153D7DE4A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18D281-CB69-48EF-B029-CE75DC3AA0FC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DA181E9-428B-3C08-339C-4E4B85DF0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4722708-4858-2594-3E33-3C50652F5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437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348EF5-9B01-8BFA-57F7-C4F8B452D0F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Zum später anschauen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7D0572C-C296-561D-1D0B-7401DB541D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de-DE" sz="2400" dirty="0" err="1">
                <a:hlinkClick r:id="rId2"/>
              </a:rPr>
              <a:t>Github</a:t>
            </a:r>
            <a:r>
              <a:rPr lang="de-DE" sz="2400" dirty="0">
                <a:hlinkClick r:id="rId2"/>
              </a:rPr>
              <a:t>-Repository</a:t>
            </a:r>
            <a:endParaRPr lang="de-DE" sz="2400" dirty="0">
              <a:effectLst/>
            </a:endParaRP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BC3F5A-EABE-9BF0-6C33-1FA6CE884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F2CB2-E116-49AD-83EB-7953A6DA2226}" type="datetime2">
              <a:rPr lang="de-DE" smtClean="0"/>
              <a:t>Mittwoch, 3. Dezember 2025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CECD069-63AC-F472-DA86-FDE8F9A802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22AA6F1-A601-7045-F22F-838E55F41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1534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Netz">
  <a:themeElements>
    <a:clrScheme name="Netz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Netz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Netz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TM03457485[[fn=Netz]]</Template>
  <TotalTime>0</TotalTime>
  <Words>481</Words>
  <Application>Microsoft Office PowerPoint</Application>
  <PresentationFormat>Breitbild</PresentationFormat>
  <Paragraphs>94</Paragraphs>
  <Slides>9</Slides>
  <Notes>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Aptos</vt:lpstr>
      <vt:lpstr>Arial</vt:lpstr>
      <vt:lpstr>Century Gothic</vt:lpstr>
      <vt:lpstr>Netz</vt:lpstr>
      <vt:lpstr>Observer</vt:lpstr>
      <vt:lpstr>inhalt</vt:lpstr>
      <vt:lpstr>Problem</vt:lpstr>
      <vt:lpstr>Funktionsweise / Definition</vt:lpstr>
      <vt:lpstr>PowerPoint-Präsentation</vt:lpstr>
      <vt:lpstr>Vor- und Nachteile</vt:lpstr>
      <vt:lpstr>Anwendungsfälle</vt:lpstr>
      <vt:lpstr>Merksatz</vt:lpstr>
      <vt:lpstr>Zum später anschauen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Observer</dc:title>
  <dc:creator>Schröer, Mike</dc:creator>
  <cp:lastModifiedBy>Danilo Schiefer</cp:lastModifiedBy>
  <cp:revision>31</cp:revision>
  <dcterms:created xsi:type="dcterms:W3CDTF">2025-10-08T10:31:21Z</dcterms:created>
  <dcterms:modified xsi:type="dcterms:W3CDTF">2025-12-03T08:03:57Z</dcterms:modified>
</cp:coreProperties>
</file>